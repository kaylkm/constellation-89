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Arimo Bold" charset="1" panose="020B0704020202020204"/>
      <p:regular r:id="rId31"/>
    </p:embeddedFont>
    <p:embeddedFont>
      <p:font typeface="Arimo" charset="1" panose="020B0604020202020204"/>
      <p:regular r:id="rId32"/>
    </p:embeddedFont>
    <p:embeddedFont>
      <p:font typeface="Tex Gyre Adventor" charset="1" panose="00000500000000000000"/>
      <p:regular r:id="rId33"/>
    </p:embeddedFont>
    <p:embeddedFont>
      <p:font typeface="Tex Gyre Adventor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VAHI6wo4LC4.mp4" Type="http://schemas.openxmlformats.org/officeDocument/2006/relationships/video"/><Relationship Id="rId4" Target="../media/VAHI6wo4LC4.mp4" Type="http://schemas.microsoft.com/office/2007/relationships/media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VAHI7Zb7gOU.mp4" Type="http://schemas.openxmlformats.org/officeDocument/2006/relationships/video"/><Relationship Id="rId4" Target="../media/VAHI7Zb7gOU.mp4" Type="http://schemas.microsoft.com/office/2007/relationships/media"/><Relationship Id="rId5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4290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6502" y="1179989"/>
            <a:ext cx="17114996" cy="718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1"/>
              </a:lnSpc>
              <a:spcBef>
                <a:spcPct val="0"/>
              </a:spcBef>
            </a:pPr>
            <a:r>
              <a:rPr lang="en-US" b="true" sz="397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Функціональні вимоги до проєкту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1. Користувач може переглядати інформацію про готель.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2. Користувач може переглядати ціни на капсули.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Користувач може залишати відгуки про роботу готелю.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4. Адміністратор може переглядати всі відгуки користувачів.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5. Адміністратор може видаляти відгуки у разі потреби.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6. Адміністратор може відповідати на відгуки користувачів.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7. Адміністратор може змінювати ціни на капсули відповідно до сезону або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інших умов.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8. Після зміни ціни адміністратором нова ціна повинна відображатися на сайті.</a:t>
            </a:r>
          </a:p>
          <a:p>
            <a:pPr algn="l">
              <a:lnSpc>
                <a:spcPts val="5141"/>
              </a:lnSpc>
              <a:spcBef>
                <a:spcPct val="0"/>
              </a:spcBef>
            </a:pPr>
            <a:r>
              <a:rPr lang="en-US" sz="367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9. Адміністративні можливості доступні тільки після авторизації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55371" y="3014360"/>
            <a:ext cx="14377257" cy="6243940"/>
          </a:xfrm>
          <a:custGeom>
            <a:avLst/>
            <a:gdLst/>
            <a:ahLst/>
            <a:cxnLst/>
            <a:rect r="r" b="b" t="t" l="l"/>
            <a:pathLst>
              <a:path h="6243940" w="14377257">
                <a:moveTo>
                  <a:pt x="0" y="0"/>
                </a:moveTo>
                <a:lnTo>
                  <a:pt x="14377258" y="0"/>
                </a:lnTo>
                <a:lnTo>
                  <a:pt x="14377258" y="6243940"/>
                </a:lnTo>
                <a:lnTo>
                  <a:pt x="0" y="624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64415"/>
            <a:ext cx="18288000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Constellation Hotel — це веб-застосунок для управління готелем та відгуками гостей, розроблений на основі архітектурного патерну MVC (Model-View-Controller). Застосунок надає публічний інтерфейс для перегляду капсул і залишення відгуків, а також адміністративну панель для управління контентом.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54542" y="3110865"/>
            <a:ext cx="530543" cy="613410"/>
            <a:chOff x="0" y="0"/>
            <a:chExt cx="707390" cy="817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482" y="50768"/>
              <a:ext cx="628513" cy="716487"/>
            </a:xfrm>
            <a:custGeom>
              <a:avLst/>
              <a:gdLst/>
              <a:ahLst/>
              <a:cxnLst/>
              <a:rect r="r" b="b" t="t" l="l"/>
              <a:pathLst>
                <a:path h="716487" w="628513">
                  <a:moveTo>
                    <a:pt x="454978" y="562642"/>
                  </a:moveTo>
                  <a:cubicBezTo>
                    <a:pt x="480378" y="198152"/>
                    <a:pt x="556578" y="185452"/>
                    <a:pt x="573088" y="204502"/>
                  </a:cubicBezTo>
                  <a:cubicBezTo>
                    <a:pt x="598488" y="231172"/>
                    <a:pt x="517208" y="379762"/>
                    <a:pt x="501968" y="461042"/>
                  </a:cubicBezTo>
                  <a:cubicBezTo>
                    <a:pt x="487998" y="530892"/>
                    <a:pt x="505778" y="619792"/>
                    <a:pt x="476568" y="661702"/>
                  </a:cubicBezTo>
                  <a:cubicBezTo>
                    <a:pt x="454978" y="693452"/>
                    <a:pt x="409258" y="718852"/>
                    <a:pt x="376238" y="716312"/>
                  </a:cubicBezTo>
                  <a:cubicBezTo>
                    <a:pt x="339408" y="713772"/>
                    <a:pt x="294958" y="674402"/>
                    <a:pt x="267018" y="637572"/>
                  </a:cubicBezTo>
                  <a:cubicBezTo>
                    <a:pt x="231458" y="590582"/>
                    <a:pt x="214948" y="488982"/>
                    <a:pt x="193358" y="447072"/>
                  </a:cubicBezTo>
                  <a:cubicBezTo>
                    <a:pt x="181928" y="425482"/>
                    <a:pt x="165418" y="416592"/>
                    <a:pt x="161608" y="398812"/>
                  </a:cubicBezTo>
                  <a:cubicBezTo>
                    <a:pt x="156528" y="381032"/>
                    <a:pt x="161608" y="356902"/>
                    <a:pt x="169228" y="341662"/>
                  </a:cubicBezTo>
                  <a:cubicBezTo>
                    <a:pt x="174308" y="328962"/>
                    <a:pt x="183198" y="318802"/>
                    <a:pt x="194628" y="312452"/>
                  </a:cubicBezTo>
                  <a:cubicBezTo>
                    <a:pt x="209868" y="303562"/>
                    <a:pt x="235268" y="298482"/>
                    <a:pt x="251778" y="298482"/>
                  </a:cubicBezTo>
                  <a:cubicBezTo>
                    <a:pt x="265748" y="299752"/>
                    <a:pt x="284798" y="302292"/>
                    <a:pt x="288608" y="313722"/>
                  </a:cubicBezTo>
                  <a:cubicBezTo>
                    <a:pt x="294958" y="335312"/>
                    <a:pt x="214948" y="453422"/>
                    <a:pt x="190818" y="453422"/>
                  </a:cubicBezTo>
                  <a:cubicBezTo>
                    <a:pt x="176848" y="453422"/>
                    <a:pt x="162878" y="420402"/>
                    <a:pt x="159068" y="405162"/>
                  </a:cubicBezTo>
                  <a:cubicBezTo>
                    <a:pt x="153988" y="392462"/>
                    <a:pt x="155258" y="378492"/>
                    <a:pt x="159068" y="365792"/>
                  </a:cubicBezTo>
                  <a:cubicBezTo>
                    <a:pt x="164148" y="350552"/>
                    <a:pt x="179388" y="328962"/>
                    <a:pt x="192088" y="318802"/>
                  </a:cubicBezTo>
                  <a:cubicBezTo>
                    <a:pt x="203518" y="309912"/>
                    <a:pt x="214948" y="306102"/>
                    <a:pt x="228918" y="304832"/>
                  </a:cubicBezTo>
                  <a:cubicBezTo>
                    <a:pt x="245428" y="304832"/>
                    <a:pt x="284798" y="311182"/>
                    <a:pt x="284798" y="320072"/>
                  </a:cubicBezTo>
                  <a:cubicBezTo>
                    <a:pt x="286068" y="332772"/>
                    <a:pt x="181928" y="398812"/>
                    <a:pt x="155258" y="383572"/>
                  </a:cubicBezTo>
                  <a:cubicBezTo>
                    <a:pt x="118428" y="360712"/>
                    <a:pt x="118428" y="144812"/>
                    <a:pt x="152718" y="81312"/>
                  </a:cubicBezTo>
                  <a:cubicBezTo>
                    <a:pt x="175578" y="35592"/>
                    <a:pt x="232728" y="-1238"/>
                    <a:pt x="273368" y="32"/>
                  </a:cubicBezTo>
                  <a:cubicBezTo>
                    <a:pt x="321628" y="2572"/>
                    <a:pt x="390208" y="69882"/>
                    <a:pt x="419418" y="115602"/>
                  </a:cubicBezTo>
                  <a:cubicBezTo>
                    <a:pt x="443548" y="153702"/>
                    <a:pt x="456248" y="210852"/>
                    <a:pt x="451168" y="246412"/>
                  </a:cubicBezTo>
                  <a:cubicBezTo>
                    <a:pt x="446088" y="273082"/>
                    <a:pt x="430848" y="292132"/>
                    <a:pt x="411798" y="312452"/>
                  </a:cubicBezTo>
                  <a:cubicBezTo>
                    <a:pt x="386398" y="336582"/>
                    <a:pt x="341948" y="358172"/>
                    <a:pt x="308928" y="373412"/>
                  </a:cubicBezTo>
                  <a:cubicBezTo>
                    <a:pt x="280988" y="387382"/>
                    <a:pt x="259398" y="397542"/>
                    <a:pt x="226378" y="402622"/>
                  </a:cubicBezTo>
                  <a:cubicBezTo>
                    <a:pt x="180658" y="410242"/>
                    <a:pt x="95568" y="414052"/>
                    <a:pt x="57468" y="401352"/>
                  </a:cubicBezTo>
                  <a:cubicBezTo>
                    <a:pt x="35878" y="392462"/>
                    <a:pt x="20638" y="377222"/>
                    <a:pt x="11748" y="363252"/>
                  </a:cubicBezTo>
                  <a:cubicBezTo>
                    <a:pt x="2858" y="350552"/>
                    <a:pt x="318" y="336582"/>
                    <a:pt x="318" y="323882"/>
                  </a:cubicBezTo>
                  <a:cubicBezTo>
                    <a:pt x="-952" y="311182"/>
                    <a:pt x="1588" y="297212"/>
                    <a:pt x="7938" y="284512"/>
                  </a:cubicBezTo>
                  <a:cubicBezTo>
                    <a:pt x="16828" y="269272"/>
                    <a:pt x="28258" y="252762"/>
                    <a:pt x="51118" y="242602"/>
                  </a:cubicBezTo>
                  <a:cubicBezTo>
                    <a:pt x="98108" y="222282"/>
                    <a:pt x="221298" y="221012"/>
                    <a:pt x="300038" y="232442"/>
                  </a:cubicBezTo>
                  <a:cubicBezTo>
                    <a:pt x="376238" y="243872"/>
                    <a:pt x="481648" y="270542"/>
                    <a:pt x="517208" y="306102"/>
                  </a:cubicBezTo>
                  <a:cubicBezTo>
                    <a:pt x="537528" y="327692"/>
                    <a:pt x="542608" y="360712"/>
                    <a:pt x="540068" y="382302"/>
                  </a:cubicBezTo>
                  <a:cubicBezTo>
                    <a:pt x="538798" y="400082"/>
                    <a:pt x="528638" y="419132"/>
                    <a:pt x="513398" y="429292"/>
                  </a:cubicBezTo>
                  <a:cubicBezTo>
                    <a:pt x="495618" y="443262"/>
                    <a:pt x="458788" y="454692"/>
                    <a:pt x="435928" y="448342"/>
                  </a:cubicBezTo>
                  <a:cubicBezTo>
                    <a:pt x="414338" y="443262"/>
                    <a:pt x="385128" y="417862"/>
                    <a:pt x="377508" y="395002"/>
                  </a:cubicBezTo>
                  <a:cubicBezTo>
                    <a:pt x="369888" y="373412"/>
                    <a:pt x="374968" y="335312"/>
                    <a:pt x="387668" y="316262"/>
                  </a:cubicBezTo>
                  <a:cubicBezTo>
                    <a:pt x="401638" y="297212"/>
                    <a:pt x="437198" y="281972"/>
                    <a:pt x="460058" y="281972"/>
                  </a:cubicBezTo>
                  <a:cubicBezTo>
                    <a:pt x="477838" y="280702"/>
                    <a:pt x="496888" y="289592"/>
                    <a:pt x="510858" y="299752"/>
                  </a:cubicBezTo>
                  <a:cubicBezTo>
                    <a:pt x="523558" y="311182"/>
                    <a:pt x="534988" y="328962"/>
                    <a:pt x="540068" y="345472"/>
                  </a:cubicBezTo>
                  <a:cubicBezTo>
                    <a:pt x="543878" y="361982"/>
                    <a:pt x="543878" y="383572"/>
                    <a:pt x="534988" y="400082"/>
                  </a:cubicBezTo>
                  <a:cubicBezTo>
                    <a:pt x="524828" y="419132"/>
                    <a:pt x="501968" y="443262"/>
                    <a:pt x="472758" y="449612"/>
                  </a:cubicBezTo>
                  <a:cubicBezTo>
                    <a:pt x="423228" y="461042"/>
                    <a:pt x="324168" y="410242"/>
                    <a:pt x="253048" y="401352"/>
                  </a:cubicBezTo>
                  <a:cubicBezTo>
                    <a:pt x="187008" y="395002"/>
                    <a:pt x="99378" y="415322"/>
                    <a:pt x="57468" y="401352"/>
                  </a:cubicBezTo>
                  <a:cubicBezTo>
                    <a:pt x="34608" y="392462"/>
                    <a:pt x="20638" y="379762"/>
                    <a:pt x="11748" y="363252"/>
                  </a:cubicBezTo>
                  <a:cubicBezTo>
                    <a:pt x="1588" y="346742"/>
                    <a:pt x="-952" y="320072"/>
                    <a:pt x="1588" y="303562"/>
                  </a:cubicBezTo>
                  <a:cubicBezTo>
                    <a:pt x="4128" y="289592"/>
                    <a:pt x="10478" y="276892"/>
                    <a:pt x="19368" y="266732"/>
                  </a:cubicBezTo>
                  <a:cubicBezTo>
                    <a:pt x="26988" y="256572"/>
                    <a:pt x="34608" y="248952"/>
                    <a:pt x="51118" y="242602"/>
                  </a:cubicBezTo>
                  <a:cubicBezTo>
                    <a:pt x="93028" y="227362"/>
                    <a:pt x="277178" y="248952"/>
                    <a:pt x="287338" y="222282"/>
                  </a:cubicBezTo>
                  <a:cubicBezTo>
                    <a:pt x="294958" y="205772"/>
                    <a:pt x="212408" y="163862"/>
                    <a:pt x="216218" y="143542"/>
                  </a:cubicBezTo>
                  <a:cubicBezTo>
                    <a:pt x="218758" y="124492"/>
                    <a:pt x="274638" y="94012"/>
                    <a:pt x="291148" y="101632"/>
                  </a:cubicBezTo>
                  <a:cubicBezTo>
                    <a:pt x="307658" y="107982"/>
                    <a:pt x="312738" y="148622"/>
                    <a:pt x="317818" y="180372"/>
                  </a:cubicBezTo>
                  <a:cubicBezTo>
                    <a:pt x="325438" y="229902"/>
                    <a:pt x="341948" y="320072"/>
                    <a:pt x="317818" y="365792"/>
                  </a:cubicBezTo>
                  <a:cubicBezTo>
                    <a:pt x="296228" y="407702"/>
                    <a:pt x="217488" y="458502"/>
                    <a:pt x="190818" y="453422"/>
                  </a:cubicBezTo>
                  <a:cubicBezTo>
                    <a:pt x="174308" y="449612"/>
                    <a:pt x="162878" y="421672"/>
                    <a:pt x="159068" y="405162"/>
                  </a:cubicBezTo>
                  <a:cubicBezTo>
                    <a:pt x="153988" y="392462"/>
                    <a:pt x="155258" y="378492"/>
                    <a:pt x="159068" y="365792"/>
                  </a:cubicBezTo>
                  <a:cubicBezTo>
                    <a:pt x="164148" y="350552"/>
                    <a:pt x="176848" y="328962"/>
                    <a:pt x="192088" y="318802"/>
                  </a:cubicBezTo>
                  <a:cubicBezTo>
                    <a:pt x="207328" y="308642"/>
                    <a:pt x="232728" y="303562"/>
                    <a:pt x="249238" y="304832"/>
                  </a:cubicBezTo>
                  <a:cubicBezTo>
                    <a:pt x="261938" y="306102"/>
                    <a:pt x="282258" y="309912"/>
                    <a:pt x="284798" y="320072"/>
                  </a:cubicBezTo>
                  <a:cubicBezTo>
                    <a:pt x="291148" y="340392"/>
                    <a:pt x="216218" y="447072"/>
                    <a:pt x="193358" y="447072"/>
                  </a:cubicBezTo>
                  <a:cubicBezTo>
                    <a:pt x="179388" y="447072"/>
                    <a:pt x="165418" y="416592"/>
                    <a:pt x="161608" y="398812"/>
                  </a:cubicBezTo>
                  <a:cubicBezTo>
                    <a:pt x="156528" y="381032"/>
                    <a:pt x="160338" y="356902"/>
                    <a:pt x="169228" y="341662"/>
                  </a:cubicBezTo>
                  <a:cubicBezTo>
                    <a:pt x="176848" y="325152"/>
                    <a:pt x="194628" y="308642"/>
                    <a:pt x="212408" y="303562"/>
                  </a:cubicBezTo>
                  <a:cubicBezTo>
                    <a:pt x="232728" y="297212"/>
                    <a:pt x="265748" y="298482"/>
                    <a:pt x="288608" y="313722"/>
                  </a:cubicBezTo>
                  <a:cubicBezTo>
                    <a:pt x="322898" y="336582"/>
                    <a:pt x="352108" y="419132"/>
                    <a:pt x="373698" y="468662"/>
                  </a:cubicBezTo>
                  <a:cubicBezTo>
                    <a:pt x="391478" y="510572"/>
                    <a:pt x="424498" y="574072"/>
                    <a:pt x="411798" y="588042"/>
                  </a:cubicBezTo>
                  <a:cubicBezTo>
                    <a:pt x="401638" y="599472"/>
                    <a:pt x="347028" y="594392"/>
                    <a:pt x="333058" y="574072"/>
                  </a:cubicBezTo>
                  <a:cubicBezTo>
                    <a:pt x="305118" y="532162"/>
                    <a:pt x="373698" y="340392"/>
                    <a:pt x="400368" y="254032"/>
                  </a:cubicBezTo>
                  <a:cubicBezTo>
                    <a:pt x="418148" y="193072"/>
                    <a:pt x="425768" y="120682"/>
                    <a:pt x="460058" y="104172"/>
                  </a:cubicBezTo>
                  <a:cubicBezTo>
                    <a:pt x="493078" y="87662"/>
                    <a:pt x="568008" y="106712"/>
                    <a:pt x="597218" y="146082"/>
                  </a:cubicBezTo>
                  <a:cubicBezTo>
                    <a:pt x="649288" y="213392"/>
                    <a:pt x="625158" y="511842"/>
                    <a:pt x="604838" y="581692"/>
                  </a:cubicBezTo>
                  <a:cubicBezTo>
                    <a:pt x="597218" y="605822"/>
                    <a:pt x="588328" y="615982"/>
                    <a:pt x="574358" y="624872"/>
                  </a:cubicBezTo>
                  <a:cubicBezTo>
                    <a:pt x="560388" y="635032"/>
                    <a:pt x="538798" y="640112"/>
                    <a:pt x="522288" y="638842"/>
                  </a:cubicBezTo>
                  <a:cubicBezTo>
                    <a:pt x="504508" y="636302"/>
                    <a:pt x="485458" y="626142"/>
                    <a:pt x="474028" y="613442"/>
                  </a:cubicBezTo>
                  <a:cubicBezTo>
                    <a:pt x="462598" y="600742"/>
                    <a:pt x="454978" y="562642"/>
                    <a:pt x="454978" y="56264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968817" y="3081338"/>
            <a:ext cx="944880" cy="632460"/>
            <a:chOff x="0" y="0"/>
            <a:chExt cx="1259840" cy="843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159" y="50240"/>
              <a:ext cx="1157660" cy="742895"/>
            </a:xfrm>
            <a:custGeom>
              <a:avLst/>
              <a:gdLst/>
              <a:ahLst/>
              <a:cxnLst/>
              <a:rect r="r" b="b" t="t" l="l"/>
              <a:pathLst>
                <a:path h="742895" w="1157660">
                  <a:moveTo>
                    <a:pt x="459111" y="142800"/>
                  </a:moveTo>
                  <a:cubicBezTo>
                    <a:pt x="379101" y="183440"/>
                    <a:pt x="315601" y="156770"/>
                    <a:pt x="316871" y="147880"/>
                  </a:cubicBezTo>
                  <a:cubicBezTo>
                    <a:pt x="318141" y="132640"/>
                    <a:pt x="475621" y="136450"/>
                    <a:pt x="559441" y="114860"/>
                  </a:cubicBezTo>
                  <a:cubicBezTo>
                    <a:pt x="652151" y="92000"/>
                    <a:pt x="782961" y="5640"/>
                    <a:pt x="847731" y="5640"/>
                  </a:cubicBezTo>
                  <a:cubicBezTo>
                    <a:pt x="879481" y="4370"/>
                    <a:pt x="903611" y="14530"/>
                    <a:pt x="918851" y="31040"/>
                  </a:cubicBezTo>
                  <a:cubicBezTo>
                    <a:pt x="934091" y="47550"/>
                    <a:pt x="942981" y="81840"/>
                    <a:pt x="937901" y="104700"/>
                  </a:cubicBezTo>
                  <a:cubicBezTo>
                    <a:pt x="932821" y="126290"/>
                    <a:pt x="903611" y="135180"/>
                    <a:pt x="888371" y="161850"/>
                  </a:cubicBezTo>
                  <a:cubicBezTo>
                    <a:pt x="864241" y="207570"/>
                    <a:pt x="837571" y="304090"/>
                    <a:pt x="826141" y="363780"/>
                  </a:cubicBezTo>
                  <a:cubicBezTo>
                    <a:pt x="818521" y="408230"/>
                    <a:pt x="831221" y="455220"/>
                    <a:pt x="817251" y="483160"/>
                  </a:cubicBezTo>
                  <a:cubicBezTo>
                    <a:pt x="807091" y="502210"/>
                    <a:pt x="789311" y="514910"/>
                    <a:pt x="771531" y="521260"/>
                  </a:cubicBezTo>
                  <a:cubicBezTo>
                    <a:pt x="755021" y="527610"/>
                    <a:pt x="729621" y="527610"/>
                    <a:pt x="711841" y="521260"/>
                  </a:cubicBezTo>
                  <a:cubicBezTo>
                    <a:pt x="695331" y="513640"/>
                    <a:pt x="676281" y="495860"/>
                    <a:pt x="668661" y="480620"/>
                  </a:cubicBezTo>
                  <a:cubicBezTo>
                    <a:pt x="661041" y="467920"/>
                    <a:pt x="659771" y="459030"/>
                    <a:pt x="658501" y="441250"/>
                  </a:cubicBezTo>
                  <a:cubicBezTo>
                    <a:pt x="655961" y="404420"/>
                    <a:pt x="663581" y="316790"/>
                    <a:pt x="672471" y="268530"/>
                  </a:cubicBezTo>
                  <a:cubicBezTo>
                    <a:pt x="678821" y="234240"/>
                    <a:pt x="685171" y="199950"/>
                    <a:pt x="699141" y="180900"/>
                  </a:cubicBezTo>
                  <a:cubicBezTo>
                    <a:pt x="709301" y="168200"/>
                    <a:pt x="719461" y="161850"/>
                    <a:pt x="733431" y="158040"/>
                  </a:cubicBezTo>
                  <a:cubicBezTo>
                    <a:pt x="749941" y="152960"/>
                    <a:pt x="777881" y="154230"/>
                    <a:pt x="794391" y="159310"/>
                  </a:cubicBezTo>
                  <a:cubicBezTo>
                    <a:pt x="807091" y="163120"/>
                    <a:pt x="818521" y="173280"/>
                    <a:pt x="827411" y="182170"/>
                  </a:cubicBezTo>
                  <a:cubicBezTo>
                    <a:pt x="836301" y="192330"/>
                    <a:pt x="842651" y="206300"/>
                    <a:pt x="846461" y="219000"/>
                  </a:cubicBezTo>
                  <a:cubicBezTo>
                    <a:pt x="849001" y="231700"/>
                    <a:pt x="849001" y="246940"/>
                    <a:pt x="845191" y="259640"/>
                  </a:cubicBezTo>
                  <a:cubicBezTo>
                    <a:pt x="841381" y="273610"/>
                    <a:pt x="828681" y="296470"/>
                    <a:pt x="826141" y="296470"/>
                  </a:cubicBezTo>
                  <a:cubicBezTo>
                    <a:pt x="822331" y="295200"/>
                    <a:pt x="836301" y="206300"/>
                    <a:pt x="841381" y="206300"/>
                  </a:cubicBezTo>
                  <a:cubicBezTo>
                    <a:pt x="847731" y="206300"/>
                    <a:pt x="841381" y="337110"/>
                    <a:pt x="855351" y="392990"/>
                  </a:cubicBezTo>
                  <a:cubicBezTo>
                    <a:pt x="866781" y="442520"/>
                    <a:pt x="889641" y="490780"/>
                    <a:pt x="912501" y="526340"/>
                  </a:cubicBezTo>
                  <a:cubicBezTo>
                    <a:pt x="930281" y="554280"/>
                    <a:pt x="979811" y="578410"/>
                    <a:pt x="974731" y="591110"/>
                  </a:cubicBezTo>
                  <a:cubicBezTo>
                    <a:pt x="970921" y="603810"/>
                    <a:pt x="899801" y="617780"/>
                    <a:pt x="887101" y="605080"/>
                  </a:cubicBezTo>
                  <a:cubicBezTo>
                    <a:pt x="873131" y="592380"/>
                    <a:pt x="895991" y="546660"/>
                    <a:pt x="892181" y="517450"/>
                  </a:cubicBezTo>
                  <a:cubicBezTo>
                    <a:pt x="887101" y="484430"/>
                    <a:pt x="860431" y="443790"/>
                    <a:pt x="859161" y="418390"/>
                  </a:cubicBezTo>
                  <a:cubicBezTo>
                    <a:pt x="859161" y="401880"/>
                    <a:pt x="861701" y="389180"/>
                    <a:pt x="868051" y="377750"/>
                  </a:cubicBezTo>
                  <a:cubicBezTo>
                    <a:pt x="873131" y="365050"/>
                    <a:pt x="883291" y="353620"/>
                    <a:pt x="893451" y="346000"/>
                  </a:cubicBezTo>
                  <a:cubicBezTo>
                    <a:pt x="904881" y="337110"/>
                    <a:pt x="918851" y="332030"/>
                    <a:pt x="931551" y="329490"/>
                  </a:cubicBezTo>
                  <a:cubicBezTo>
                    <a:pt x="945521" y="326950"/>
                    <a:pt x="959491" y="326950"/>
                    <a:pt x="973461" y="332030"/>
                  </a:cubicBezTo>
                  <a:cubicBezTo>
                    <a:pt x="989971" y="339650"/>
                    <a:pt x="1001401" y="362510"/>
                    <a:pt x="1020451" y="371400"/>
                  </a:cubicBezTo>
                  <a:cubicBezTo>
                    <a:pt x="1043311" y="381560"/>
                    <a:pt x="1081411" y="376480"/>
                    <a:pt x="1104271" y="387910"/>
                  </a:cubicBezTo>
                  <a:cubicBezTo>
                    <a:pt x="1123321" y="398070"/>
                    <a:pt x="1139831" y="414580"/>
                    <a:pt x="1148721" y="431090"/>
                  </a:cubicBezTo>
                  <a:cubicBezTo>
                    <a:pt x="1156341" y="443790"/>
                    <a:pt x="1157611" y="457760"/>
                    <a:pt x="1157611" y="471730"/>
                  </a:cubicBezTo>
                  <a:cubicBezTo>
                    <a:pt x="1157611" y="484430"/>
                    <a:pt x="1153801" y="499670"/>
                    <a:pt x="1146181" y="511100"/>
                  </a:cubicBezTo>
                  <a:cubicBezTo>
                    <a:pt x="1137291" y="526340"/>
                    <a:pt x="1115701" y="544120"/>
                    <a:pt x="1099191" y="551740"/>
                  </a:cubicBezTo>
                  <a:cubicBezTo>
                    <a:pt x="1085221" y="556820"/>
                    <a:pt x="1078871" y="556820"/>
                    <a:pt x="1057281" y="555550"/>
                  </a:cubicBezTo>
                  <a:cubicBezTo>
                    <a:pt x="973461" y="549200"/>
                    <a:pt x="614051" y="465380"/>
                    <a:pt x="452761" y="414580"/>
                  </a:cubicBezTo>
                  <a:cubicBezTo>
                    <a:pt x="341001" y="379020"/>
                    <a:pt x="252101" y="321870"/>
                    <a:pt x="175901" y="300280"/>
                  </a:cubicBezTo>
                  <a:cubicBezTo>
                    <a:pt x="125101" y="286310"/>
                    <a:pt x="71761" y="293930"/>
                    <a:pt x="45091" y="281230"/>
                  </a:cubicBezTo>
                  <a:cubicBezTo>
                    <a:pt x="29851" y="273610"/>
                    <a:pt x="22231" y="264720"/>
                    <a:pt x="14611" y="253290"/>
                  </a:cubicBezTo>
                  <a:cubicBezTo>
                    <a:pt x="6991" y="243130"/>
                    <a:pt x="641" y="229160"/>
                    <a:pt x="641" y="215190"/>
                  </a:cubicBezTo>
                  <a:cubicBezTo>
                    <a:pt x="-629" y="197410"/>
                    <a:pt x="5721" y="170740"/>
                    <a:pt x="14611" y="156770"/>
                  </a:cubicBezTo>
                  <a:cubicBezTo>
                    <a:pt x="22231" y="144070"/>
                    <a:pt x="29851" y="136450"/>
                    <a:pt x="46361" y="130100"/>
                  </a:cubicBezTo>
                  <a:cubicBezTo>
                    <a:pt x="81921" y="114860"/>
                    <a:pt x="200031" y="112320"/>
                    <a:pt x="238131" y="121210"/>
                  </a:cubicBezTo>
                  <a:cubicBezTo>
                    <a:pt x="255911" y="125020"/>
                    <a:pt x="264801" y="130100"/>
                    <a:pt x="274961" y="141530"/>
                  </a:cubicBezTo>
                  <a:cubicBezTo>
                    <a:pt x="287661" y="154230"/>
                    <a:pt x="300361" y="178360"/>
                    <a:pt x="302901" y="196140"/>
                  </a:cubicBezTo>
                  <a:cubicBezTo>
                    <a:pt x="305441" y="210110"/>
                    <a:pt x="302901" y="224080"/>
                    <a:pt x="296551" y="236780"/>
                  </a:cubicBezTo>
                  <a:cubicBezTo>
                    <a:pt x="288931" y="252020"/>
                    <a:pt x="271151" y="273610"/>
                    <a:pt x="255911" y="282500"/>
                  </a:cubicBezTo>
                  <a:cubicBezTo>
                    <a:pt x="243211" y="288850"/>
                    <a:pt x="230511" y="293930"/>
                    <a:pt x="215271" y="291390"/>
                  </a:cubicBezTo>
                  <a:cubicBezTo>
                    <a:pt x="193681" y="287580"/>
                    <a:pt x="151771" y="260910"/>
                    <a:pt x="140341" y="244400"/>
                  </a:cubicBezTo>
                  <a:cubicBezTo>
                    <a:pt x="132721" y="235510"/>
                    <a:pt x="131451" y="229160"/>
                    <a:pt x="131451" y="217730"/>
                  </a:cubicBezTo>
                  <a:cubicBezTo>
                    <a:pt x="131451" y="198680"/>
                    <a:pt x="140341" y="158040"/>
                    <a:pt x="158121" y="141530"/>
                  </a:cubicBezTo>
                  <a:cubicBezTo>
                    <a:pt x="174631" y="125020"/>
                    <a:pt x="212731" y="114860"/>
                    <a:pt x="235591" y="119940"/>
                  </a:cubicBezTo>
                  <a:cubicBezTo>
                    <a:pt x="258451" y="125020"/>
                    <a:pt x="288931" y="150420"/>
                    <a:pt x="296551" y="173280"/>
                  </a:cubicBezTo>
                  <a:cubicBezTo>
                    <a:pt x="305441" y="194870"/>
                    <a:pt x="301631" y="234240"/>
                    <a:pt x="287661" y="253290"/>
                  </a:cubicBezTo>
                  <a:cubicBezTo>
                    <a:pt x="274961" y="273610"/>
                    <a:pt x="239401" y="291390"/>
                    <a:pt x="216541" y="291390"/>
                  </a:cubicBezTo>
                  <a:cubicBezTo>
                    <a:pt x="192411" y="291390"/>
                    <a:pt x="158121" y="272340"/>
                    <a:pt x="145421" y="253290"/>
                  </a:cubicBezTo>
                  <a:cubicBezTo>
                    <a:pt x="131451" y="232970"/>
                    <a:pt x="130181" y="193600"/>
                    <a:pt x="136531" y="172010"/>
                  </a:cubicBezTo>
                  <a:cubicBezTo>
                    <a:pt x="141611" y="154230"/>
                    <a:pt x="158121" y="138990"/>
                    <a:pt x="172091" y="130100"/>
                  </a:cubicBezTo>
                  <a:cubicBezTo>
                    <a:pt x="187331" y="121210"/>
                    <a:pt x="208921" y="117400"/>
                    <a:pt x="226701" y="118670"/>
                  </a:cubicBezTo>
                  <a:cubicBezTo>
                    <a:pt x="243211" y="121210"/>
                    <a:pt x="262261" y="130100"/>
                    <a:pt x="274961" y="141530"/>
                  </a:cubicBezTo>
                  <a:cubicBezTo>
                    <a:pt x="286391" y="150420"/>
                    <a:pt x="294011" y="163120"/>
                    <a:pt x="297821" y="175820"/>
                  </a:cubicBezTo>
                  <a:cubicBezTo>
                    <a:pt x="302901" y="188520"/>
                    <a:pt x="305441" y="202490"/>
                    <a:pt x="302901" y="216460"/>
                  </a:cubicBezTo>
                  <a:cubicBezTo>
                    <a:pt x="299091" y="234240"/>
                    <a:pt x="287661" y="258370"/>
                    <a:pt x="272421" y="269800"/>
                  </a:cubicBezTo>
                  <a:cubicBezTo>
                    <a:pt x="258451" y="282500"/>
                    <a:pt x="239401" y="287580"/>
                    <a:pt x="215271" y="291390"/>
                  </a:cubicBezTo>
                  <a:cubicBezTo>
                    <a:pt x="177171" y="297740"/>
                    <a:pt x="99701" y="300280"/>
                    <a:pt x="64141" y="288850"/>
                  </a:cubicBezTo>
                  <a:cubicBezTo>
                    <a:pt x="41281" y="281230"/>
                    <a:pt x="24771" y="269800"/>
                    <a:pt x="14611" y="253290"/>
                  </a:cubicBezTo>
                  <a:cubicBezTo>
                    <a:pt x="3181" y="238050"/>
                    <a:pt x="-1899" y="213920"/>
                    <a:pt x="641" y="194870"/>
                  </a:cubicBezTo>
                  <a:cubicBezTo>
                    <a:pt x="3181" y="175820"/>
                    <a:pt x="14611" y="154230"/>
                    <a:pt x="28581" y="141530"/>
                  </a:cubicBezTo>
                  <a:cubicBezTo>
                    <a:pt x="43821" y="128830"/>
                    <a:pt x="61601" y="122480"/>
                    <a:pt x="85731" y="119940"/>
                  </a:cubicBezTo>
                  <a:cubicBezTo>
                    <a:pt x="126371" y="117400"/>
                    <a:pt x="187331" y="132640"/>
                    <a:pt x="249561" y="150420"/>
                  </a:cubicBezTo>
                  <a:cubicBezTo>
                    <a:pt x="342271" y="177090"/>
                    <a:pt x="465461" y="246940"/>
                    <a:pt x="581031" y="279960"/>
                  </a:cubicBezTo>
                  <a:cubicBezTo>
                    <a:pt x="702951" y="314250"/>
                    <a:pt x="870591" y="326950"/>
                    <a:pt x="965841" y="348540"/>
                  </a:cubicBezTo>
                  <a:cubicBezTo>
                    <a:pt x="1024261" y="362510"/>
                    <a:pt x="1071251" y="370130"/>
                    <a:pt x="1104271" y="387910"/>
                  </a:cubicBezTo>
                  <a:cubicBezTo>
                    <a:pt x="1124591" y="400610"/>
                    <a:pt x="1141101" y="413310"/>
                    <a:pt x="1148721" y="431090"/>
                  </a:cubicBezTo>
                  <a:cubicBezTo>
                    <a:pt x="1157611" y="447600"/>
                    <a:pt x="1160151" y="473000"/>
                    <a:pt x="1155071" y="492050"/>
                  </a:cubicBezTo>
                  <a:cubicBezTo>
                    <a:pt x="1149991" y="511100"/>
                    <a:pt x="1133481" y="531420"/>
                    <a:pt x="1118241" y="541580"/>
                  </a:cubicBezTo>
                  <a:cubicBezTo>
                    <a:pt x="1101731" y="553010"/>
                    <a:pt x="1080141" y="555550"/>
                    <a:pt x="1057281" y="555550"/>
                  </a:cubicBezTo>
                  <a:cubicBezTo>
                    <a:pt x="1026801" y="554280"/>
                    <a:pt x="983621" y="540310"/>
                    <a:pt x="951871" y="523800"/>
                  </a:cubicBezTo>
                  <a:cubicBezTo>
                    <a:pt x="921391" y="507290"/>
                    <a:pt x="884561" y="479350"/>
                    <a:pt x="870591" y="457760"/>
                  </a:cubicBezTo>
                  <a:cubicBezTo>
                    <a:pt x="861701" y="443790"/>
                    <a:pt x="860431" y="431090"/>
                    <a:pt x="859161" y="418390"/>
                  </a:cubicBezTo>
                  <a:cubicBezTo>
                    <a:pt x="859161" y="404420"/>
                    <a:pt x="860431" y="390450"/>
                    <a:pt x="868051" y="377750"/>
                  </a:cubicBezTo>
                  <a:cubicBezTo>
                    <a:pt x="875671" y="362510"/>
                    <a:pt x="895991" y="343460"/>
                    <a:pt x="912501" y="334570"/>
                  </a:cubicBezTo>
                  <a:cubicBezTo>
                    <a:pt x="925201" y="328220"/>
                    <a:pt x="939171" y="326950"/>
                    <a:pt x="953141" y="328220"/>
                  </a:cubicBezTo>
                  <a:cubicBezTo>
                    <a:pt x="965841" y="329490"/>
                    <a:pt x="981081" y="334570"/>
                    <a:pt x="992511" y="342190"/>
                  </a:cubicBezTo>
                  <a:cubicBezTo>
                    <a:pt x="1003941" y="348540"/>
                    <a:pt x="1011561" y="356160"/>
                    <a:pt x="1020451" y="371400"/>
                  </a:cubicBezTo>
                  <a:cubicBezTo>
                    <a:pt x="1036961" y="398070"/>
                    <a:pt x="1054741" y="456490"/>
                    <a:pt x="1062361" y="495860"/>
                  </a:cubicBezTo>
                  <a:cubicBezTo>
                    <a:pt x="1069981" y="528880"/>
                    <a:pt x="1077601" y="560630"/>
                    <a:pt x="1072521" y="591110"/>
                  </a:cubicBezTo>
                  <a:cubicBezTo>
                    <a:pt x="1068711" y="617780"/>
                    <a:pt x="1057281" y="644450"/>
                    <a:pt x="1040771" y="668580"/>
                  </a:cubicBezTo>
                  <a:cubicBezTo>
                    <a:pt x="1021721" y="695250"/>
                    <a:pt x="988701" y="735890"/>
                    <a:pt x="955681" y="742240"/>
                  </a:cubicBezTo>
                  <a:cubicBezTo>
                    <a:pt x="923931" y="747320"/>
                    <a:pt x="876941" y="721920"/>
                    <a:pt x="845191" y="697790"/>
                  </a:cubicBezTo>
                  <a:cubicBezTo>
                    <a:pt x="812171" y="673660"/>
                    <a:pt x="785501" y="630480"/>
                    <a:pt x="763911" y="597460"/>
                  </a:cubicBezTo>
                  <a:cubicBezTo>
                    <a:pt x="746131" y="568250"/>
                    <a:pt x="735971" y="546660"/>
                    <a:pt x="723271" y="513640"/>
                  </a:cubicBezTo>
                  <a:cubicBezTo>
                    <a:pt x="706761" y="469190"/>
                    <a:pt x="681361" y="405690"/>
                    <a:pt x="677551" y="349810"/>
                  </a:cubicBezTo>
                  <a:cubicBezTo>
                    <a:pt x="673741" y="293930"/>
                    <a:pt x="681361" y="210110"/>
                    <a:pt x="699141" y="180900"/>
                  </a:cubicBezTo>
                  <a:cubicBezTo>
                    <a:pt x="708031" y="166930"/>
                    <a:pt x="720731" y="163120"/>
                    <a:pt x="733431" y="158040"/>
                  </a:cubicBezTo>
                  <a:cubicBezTo>
                    <a:pt x="746131" y="154230"/>
                    <a:pt x="760101" y="150420"/>
                    <a:pt x="774071" y="154230"/>
                  </a:cubicBezTo>
                  <a:cubicBezTo>
                    <a:pt x="791851" y="156770"/>
                    <a:pt x="814711" y="168200"/>
                    <a:pt x="827411" y="182170"/>
                  </a:cubicBezTo>
                  <a:cubicBezTo>
                    <a:pt x="840111" y="197410"/>
                    <a:pt x="849001" y="220270"/>
                    <a:pt x="847731" y="239320"/>
                  </a:cubicBezTo>
                  <a:cubicBezTo>
                    <a:pt x="847731" y="258370"/>
                    <a:pt x="824871" y="295200"/>
                    <a:pt x="826141" y="296470"/>
                  </a:cubicBezTo>
                  <a:cubicBezTo>
                    <a:pt x="827411" y="296470"/>
                    <a:pt x="838841" y="268530"/>
                    <a:pt x="842651" y="269800"/>
                  </a:cubicBezTo>
                  <a:cubicBezTo>
                    <a:pt x="847731" y="271070"/>
                    <a:pt x="843921" y="325680"/>
                    <a:pt x="841381" y="356160"/>
                  </a:cubicBezTo>
                  <a:cubicBezTo>
                    <a:pt x="837571" y="390450"/>
                    <a:pt x="833761" y="438710"/>
                    <a:pt x="824871" y="464110"/>
                  </a:cubicBezTo>
                  <a:cubicBezTo>
                    <a:pt x="819791" y="479350"/>
                    <a:pt x="815981" y="489510"/>
                    <a:pt x="805821" y="499670"/>
                  </a:cubicBezTo>
                  <a:cubicBezTo>
                    <a:pt x="793121" y="511100"/>
                    <a:pt x="770261" y="523800"/>
                    <a:pt x="752481" y="526340"/>
                  </a:cubicBezTo>
                  <a:cubicBezTo>
                    <a:pt x="733431" y="528880"/>
                    <a:pt x="709301" y="519990"/>
                    <a:pt x="694061" y="511100"/>
                  </a:cubicBezTo>
                  <a:cubicBezTo>
                    <a:pt x="682631" y="503480"/>
                    <a:pt x="673741" y="493320"/>
                    <a:pt x="668661" y="480620"/>
                  </a:cubicBezTo>
                  <a:cubicBezTo>
                    <a:pt x="659771" y="464110"/>
                    <a:pt x="657231" y="439980"/>
                    <a:pt x="655961" y="417120"/>
                  </a:cubicBezTo>
                  <a:cubicBezTo>
                    <a:pt x="654691" y="389180"/>
                    <a:pt x="659771" y="352350"/>
                    <a:pt x="666121" y="321870"/>
                  </a:cubicBezTo>
                  <a:cubicBezTo>
                    <a:pt x="671201" y="291390"/>
                    <a:pt x="680091" y="267260"/>
                    <a:pt x="692791" y="234240"/>
                  </a:cubicBezTo>
                  <a:cubicBezTo>
                    <a:pt x="710571" y="188520"/>
                    <a:pt x="741051" y="114860"/>
                    <a:pt x="767721" y="75490"/>
                  </a:cubicBezTo>
                  <a:cubicBezTo>
                    <a:pt x="786771" y="47550"/>
                    <a:pt x="805821" y="19610"/>
                    <a:pt x="828681" y="10720"/>
                  </a:cubicBezTo>
                  <a:cubicBezTo>
                    <a:pt x="846461" y="1830"/>
                    <a:pt x="870591" y="4370"/>
                    <a:pt x="885831" y="9450"/>
                  </a:cubicBezTo>
                  <a:cubicBezTo>
                    <a:pt x="898531" y="13260"/>
                    <a:pt x="909961" y="19610"/>
                    <a:pt x="918851" y="31040"/>
                  </a:cubicBezTo>
                  <a:cubicBezTo>
                    <a:pt x="929011" y="43740"/>
                    <a:pt x="940441" y="65330"/>
                    <a:pt x="940441" y="84380"/>
                  </a:cubicBezTo>
                  <a:cubicBezTo>
                    <a:pt x="939171" y="105970"/>
                    <a:pt x="930281" y="131370"/>
                    <a:pt x="906151" y="152960"/>
                  </a:cubicBezTo>
                  <a:cubicBezTo>
                    <a:pt x="856621" y="197410"/>
                    <a:pt x="696601" y="246940"/>
                    <a:pt x="596271" y="272340"/>
                  </a:cubicBezTo>
                  <a:cubicBezTo>
                    <a:pt x="509911" y="293930"/>
                    <a:pt x="409581" y="307900"/>
                    <a:pt x="346081" y="305360"/>
                  </a:cubicBezTo>
                  <a:cubicBezTo>
                    <a:pt x="304171" y="304090"/>
                    <a:pt x="267341" y="302820"/>
                    <a:pt x="245751" y="283770"/>
                  </a:cubicBezTo>
                  <a:cubicBezTo>
                    <a:pt x="224161" y="267260"/>
                    <a:pt x="210191" y="229160"/>
                    <a:pt x="211461" y="201220"/>
                  </a:cubicBezTo>
                  <a:cubicBezTo>
                    <a:pt x="211461" y="172010"/>
                    <a:pt x="227971" y="140260"/>
                    <a:pt x="249561" y="113590"/>
                  </a:cubicBezTo>
                  <a:cubicBezTo>
                    <a:pt x="276231" y="78030"/>
                    <a:pt x="337191" y="31040"/>
                    <a:pt x="371481" y="14530"/>
                  </a:cubicBezTo>
                  <a:cubicBezTo>
                    <a:pt x="390531" y="4370"/>
                    <a:pt x="407041" y="-1980"/>
                    <a:pt x="424821" y="560"/>
                  </a:cubicBezTo>
                  <a:cubicBezTo>
                    <a:pt x="445141" y="4370"/>
                    <a:pt x="473081" y="24690"/>
                    <a:pt x="484511" y="42470"/>
                  </a:cubicBezTo>
                  <a:cubicBezTo>
                    <a:pt x="493401" y="57710"/>
                    <a:pt x="494671" y="80570"/>
                    <a:pt x="490861" y="97080"/>
                  </a:cubicBezTo>
                  <a:cubicBezTo>
                    <a:pt x="487051" y="113590"/>
                    <a:pt x="459111" y="142800"/>
                    <a:pt x="459111" y="14280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3564" y="508869"/>
            <a:ext cx="17460873" cy="889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Структура проєкту: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Проєкт складається з двох основних частин: основний в</a:t>
            </a: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еб-застосунок MvcHotel та тестовий проєкт MvcHotel.Tests.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Дерево директорій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MvcHotel/ — Основний веб-застосунок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•Areas/Admin/ — Адміністративна область (Controllers, Views)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•Controllers/ — Публічні контролери (Home, Account)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•Data/ — Шар бази даних (DbContext, Entities)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•Models/ — Презентаційні моделі (Capsule, Review)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•ViewModels/ — Моделі для View (HomeIndex, ReviewForm, Admin)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•Views/ — Razor-шаблони (Home, Account, Shared)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•wwwroot/ — Статичні ресурси (css, js, images, lib)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•Program.cs — Конфігурація запуску застосунку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•appsettings.Development.json — Налаштування середовища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MvcHotel.Tests/ — Тестовий проєкт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•Controllers/ — Тести контролерів (5 файлів)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•Data/ — Тести DbContext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•Models/ — Тести моделей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•Helpers/ — Допоміжні утиліти (DbContextHelper)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971550"/>
            <a:ext cx="18288000" cy="839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Тестування проєкту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У проєкті реалізовано 71 тест на основі xUnit, з яких 63 проходять успішно. Поточне покриття коду становить приблизно 70%. 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Тести охоплюють: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* роботу головної сторінки;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* адміністративну панель;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* керування користувачами;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* додавання, видалення та редагування відгуків;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* відповіді адміністратора на відгуки;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* зміну цін на капсули;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* роботу з базою даних;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* перевірку моделей та зв’язків між ними.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Для тестування бази даних використано in-memory SQLite. Основна функціональність проєкту покрита тестами, але надалі можна розширити перевірку авторизації та граничних випадків.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946" y="1764478"/>
            <a:ext cx="12041058" cy="6758044"/>
          </a:xfrm>
          <a:custGeom>
            <a:avLst/>
            <a:gdLst/>
            <a:ahLst/>
            <a:cxnLst/>
            <a:rect r="r" b="b" t="t" l="l"/>
            <a:pathLst>
              <a:path h="6758044" w="12041058">
                <a:moveTo>
                  <a:pt x="0" y="0"/>
                </a:moveTo>
                <a:lnTo>
                  <a:pt x="12041058" y="0"/>
                </a:lnTo>
                <a:lnTo>
                  <a:pt x="12041058" y="6758044"/>
                </a:lnTo>
                <a:lnTo>
                  <a:pt x="0" y="6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21025" y="213108"/>
            <a:ext cx="2845951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ER-діаграма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14004" y="3148670"/>
            <a:ext cx="6073996" cy="3948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7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База даних с</a:t>
            </a:r>
            <a:r>
              <a:rPr lang="en-US" sz="2805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кладається з 5 таблиць з наступними зв'язками:</a:t>
            </a:r>
          </a:p>
          <a:p>
            <a:pPr algn="ctr">
              <a:lnSpc>
                <a:spcPts val="3927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•users (1) → (M) reviews</a:t>
            </a:r>
          </a:p>
          <a:p>
            <a:pPr algn="ctr">
              <a:lnSpc>
                <a:spcPts val="3927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•reviews (1) ↔ (1) ratings</a:t>
            </a:r>
          </a:p>
          <a:p>
            <a:pPr algn="ctr">
              <a:lnSpc>
                <a:spcPts val="3927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•reviews (1) ↔ (0..1) admin_replies</a:t>
            </a:r>
          </a:p>
          <a:p>
            <a:pPr algn="ctr">
              <a:lnSpc>
                <a:spcPts val="3927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•capsule_prices — окрема довідникова таблиця</a:t>
            </a:r>
          </a:p>
          <a:p>
            <a:pPr algn="ctr">
              <a:lnSpc>
                <a:spcPts val="39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0019" y="619368"/>
            <a:ext cx="17027962" cy="864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8"/>
              </a:lnSpc>
            </a:pPr>
            <a:r>
              <a:rPr lang="en-US" sz="3677" b="true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Бізнес-процеси:</a:t>
            </a:r>
          </a:p>
          <a:p>
            <a:pPr algn="ctr">
              <a:lnSpc>
                <a:spcPts val="4728"/>
              </a:lnSpc>
            </a:pPr>
            <a:r>
              <a:rPr lang="en-US" sz="3377" b="true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Процес подання відгуку гостем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1.Гість відкриває головну сторінку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2.Переглядає доступні капсули та ціни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3.Заповнює форму відгуку: ім'я, тип капсули, текст (до 1000 символів), 4 рейтинги (1-5 зірок)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4.Система знаходить або створює профіль користувача за іменем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5.Зберігає відгук та рейтинги в PostgreSQL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6.Гість перенаправляється на головну з підтвердженням</a:t>
            </a:r>
          </a:p>
          <a:p>
            <a:pPr algn="ctr">
              <a:lnSpc>
                <a:spcPts val="4168"/>
              </a:lnSpc>
            </a:pPr>
          </a:p>
          <a:p>
            <a:pPr algn="ctr">
              <a:lnSpc>
                <a:spcPts val="4728"/>
              </a:lnSpc>
            </a:pPr>
            <a:r>
              <a:rPr lang="en-US" sz="3377" b="true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Процес модерації відгуку адміністратором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1</a:t>
            </a: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.Адміністратор входить через /Account/Login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2</a:t>
            </a: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.Переглядає нові відгуки на дашборді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3</a:t>
            </a: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.Відкриває деталі відгуку (Admin/Reviews/Details)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4</a:t>
            </a: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. Додає відповідь або видаляє небажаний відгук</a:t>
            </a:r>
          </a:p>
          <a:p>
            <a:pPr algn="ctr">
              <a:lnSpc>
                <a:spcPts val="4168"/>
              </a:lnSpc>
            </a:pP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5</a:t>
            </a:r>
            <a:r>
              <a:rPr lang="en-US" sz="2977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. Відповідь адміністратора відображається публічно під відгуком гостя</a:t>
            </a:r>
          </a:p>
          <a:p>
            <a:pPr algn="ctr">
              <a:lnSpc>
                <a:spcPts val="41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2765" y="1059180"/>
            <a:ext cx="6274669" cy="8366225"/>
          </a:xfrm>
          <a:custGeom>
            <a:avLst/>
            <a:gdLst/>
            <a:ahLst/>
            <a:cxnLst/>
            <a:rect r="r" b="b" t="t" l="l"/>
            <a:pathLst>
              <a:path h="8366225" w="6274669">
                <a:moveTo>
                  <a:pt x="0" y="0"/>
                </a:moveTo>
                <a:lnTo>
                  <a:pt x="6274669" y="0"/>
                </a:lnTo>
                <a:lnTo>
                  <a:pt x="6274669" y="8366225"/>
                </a:lnTo>
                <a:lnTo>
                  <a:pt x="0" y="8366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41762" y="1043940"/>
            <a:ext cx="4821667" cy="8381465"/>
          </a:xfrm>
          <a:custGeom>
            <a:avLst/>
            <a:gdLst/>
            <a:ahLst/>
            <a:cxnLst/>
            <a:rect r="r" b="b" t="t" l="l"/>
            <a:pathLst>
              <a:path h="8381465" w="4821667">
                <a:moveTo>
                  <a:pt x="0" y="0"/>
                </a:moveTo>
                <a:lnTo>
                  <a:pt x="4821667" y="0"/>
                </a:lnTo>
                <a:lnTo>
                  <a:pt x="4821667" y="8381465"/>
                </a:lnTo>
                <a:lnTo>
                  <a:pt x="0" y="8381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66845" y="398780"/>
            <a:ext cx="6477834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Шлях користувача на сайті: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8275320"/>
          </a:xfrm>
          <a:custGeom>
            <a:avLst/>
            <a:gdLst/>
            <a:ahLst/>
            <a:cxnLst/>
            <a:rect r="r" b="b" t="t" l="l"/>
            <a:pathLst>
              <a:path h="8275320" w="18288000">
                <a:moveTo>
                  <a:pt x="0" y="0"/>
                </a:moveTo>
                <a:lnTo>
                  <a:pt x="18288000" y="0"/>
                </a:lnTo>
                <a:lnTo>
                  <a:pt x="18288000" y="8275320"/>
                </a:lnTo>
                <a:lnTo>
                  <a:pt x="0" y="8275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353742"/>
            <a:ext cx="18288000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1. Головна сторінка: Знайомство та Навігація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Опис: Веб-ресурс зустрічає користувача, як візитна картка готелю.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Можливості: Гість знайомиться з концепцією та атмосферою закладу, отримуючи інтуїтивно зрозумілу навігацію для швидкого переходу до ключових розділів.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8298180"/>
          </a:xfrm>
          <a:custGeom>
            <a:avLst/>
            <a:gdLst/>
            <a:ahLst/>
            <a:cxnLst/>
            <a:rect r="r" b="b" t="t" l="l"/>
            <a:pathLst>
              <a:path h="8298180" w="18288000">
                <a:moveTo>
                  <a:pt x="0" y="0"/>
                </a:moveTo>
                <a:lnTo>
                  <a:pt x="18288000" y="0"/>
                </a:lnTo>
                <a:lnTo>
                  <a:pt x="18288000" y="8298180"/>
                </a:lnTo>
                <a:lnTo>
                  <a:pt x="0" y="8298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250555"/>
            <a:ext cx="18288000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2. Про нас: Філософія та П</a:t>
            </a: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ереваги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Опис: Розділ, що розкриває ідентичність готелю.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Можливості: Відвідувач дізнається про історію закладу, наші цінності та конкретні переваги (сервіс, комфорт, додаткові послуги), які він отримає під час перебування.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9680"/>
            <a:ext cx="18288000" cy="8275320"/>
          </a:xfrm>
          <a:custGeom>
            <a:avLst/>
            <a:gdLst/>
            <a:ahLst/>
            <a:cxnLst/>
            <a:rect r="r" b="b" t="t" l="l"/>
            <a:pathLst>
              <a:path h="8275320" w="18288000">
                <a:moveTo>
                  <a:pt x="0" y="0"/>
                </a:moveTo>
                <a:lnTo>
                  <a:pt x="18288000" y="0"/>
                </a:lnTo>
                <a:lnTo>
                  <a:pt x="18288000" y="8275320"/>
                </a:lnTo>
                <a:lnTo>
                  <a:pt x="0" y="8275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257375"/>
            <a:ext cx="18288000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3. Наші капсули: Вибір та Прайс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Опис: Інт</a:t>
            </a: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ерактивний каталог доступних варіантів проживання.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Можливості: Користувач може детально вивчити різні типи капсул, ознайомитися з технічними характеристиками та побачити актуальні ціни в реальному часі.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8298180"/>
          </a:xfrm>
          <a:custGeom>
            <a:avLst/>
            <a:gdLst/>
            <a:ahLst/>
            <a:cxnLst/>
            <a:rect r="r" b="b" t="t" l="l"/>
            <a:pathLst>
              <a:path h="8298180" w="18288000">
                <a:moveTo>
                  <a:pt x="0" y="0"/>
                </a:moveTo>
                <a:lnTo>
                  <a:pt x="18288000" y="0"/>
                </a:lnTo>
                <a:lnTo>
                  <a:pt x="18288000" y="8298180"/>
                </a:lnTo>
                <a:lnTo>
                  <a:pt x="0" y="8298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241030"/>
            <a:ext cx="1828800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4. Галерея: Візуальне занурення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Опис: Мультим</a:t>
            </a:r>
            <a:r>
              <a:rPr lang="en-US" sz="28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едійний розділ з високою якістю контенту.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Можливості: Повний огляд інтер’єру капсул, загальних зон, атмосфери та зручностей, що допомагає прийняти остаточне рішення про бронювання.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8298180"/>
          </a:xfrm>
          <a:custGeom>
            <a:avLst/>
            <a:gdLst/>
            <a:ahLst/>
            <a:cxnLst/>
            <a:rect r="r" b="b" t="t" l="l"/>
            <a:pathLst>
              <a:path h="8298180" w="18288000">
                <a:moveTo>
                  <a:pt x="0" y="0"/>
                </a:moveTo>
                <a:lnTo>
                  <a:pt x="18288000" y="0"/>
                </a:lnTo>
                <a:lnTo>
                  <a:pt x="18288000" y="8298180"/>
                </a:lnTo>
                <a:lnTo>
                  <a:pt x="0" y="8298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270611"/>
            <a:ext cx="16797933" cy="189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5. Відгуки: Соціальне підтвердж</a:t>
            </a:r>
            <a:r>
              <a:rPr lang="en-US" sz="3604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ення та Зворотний зв'язок</a:t>
            </a:r>
          </a:p>
          <a:p>
            <a:pPr algn="l" marL="778152" indent="-389076" lvl="1">
              <a:lnSpc>
                <a:spcPts val="5045"/>
              </a:lnSpc>
              <a:spcBef>
                <a:spcPct val="0"/>
              </a:spcBef>
              <a:buFont typeface="Arial"/>
              <a:buChar char="•"/>
            </a:pPr>
            <a:r>
              <a:rPr lang="en-US" sz="3604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Опис: Платформа для комунікації з відвідувачами.</a:t>
            </a:r>
          </a:p>
          <a:p>
            <a:pPr algn="l" marL="778152" indent="-389076" lvl="1">
              <a:lnSpc>
                <a:spcPts val="5045"/>
              </a:lnSpc>
              <a:spcBef>
                <a:spcPct val="0"/>
              </a:spcBef>
              <a:buFont typeface="Arial"/>
              <a:buChar char="•"/>
            </a:pPr>
            <a:r>
              <a:rPr lang="en-US" sz="3604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 для нових гостей: Перегляд чесного досвіду інших людей.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6919" y="0"/>
            <a:ext cx="22608791" cy="10287000"/>
          </a:xfrm>
          <a:custGeom>
            <a:avLst/>
            <a:gdLst/>
            <a:ahLst/>
            <a:cxnLst/>
            <a:rect r="r" b="b" t="t" l="l"/>
            <a:pathLst>
              <a:path h="10287000" w="22608791">
                <a:moveTo>
                  <a:pt x="0" y="0"/>
                </a:moveTo>
                <a:lnTo>
                  <a:pt x="22608791" y="0"/>
                </a:lnTo>
                <a:lnTo>
                  <a:pt x="2260879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05208" y="1596146"/>
            <a:ext cx="6526754" cy="8690854"/>
            <a:chOff x="0" y="0"/>
            <a:chExt cx="1718980" cy="2288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8980" cy="2288949"/>
            </a:xfrm>
            <a:custGeom>
              <a:avLst/>
              <a:gdLst/>
              <a:ahLst/>
              <a:cxnLst/>
              <a:rect r="r" b="b" t="t" l="l"/>
              <a:pathLst>
                <a:path h="2288949" w="1718980">
                  <a:moveTo>
                    <a:pt x="0" y="0"/>
                  </a:moveTo>
                  <a:lnTo>
                    <a:pt x="1718980" y="0"/>
                  </a:lnTo>
                  <a:lnTo>
                    <a:pt x="1718980" y="2288949"/>
                  </a:lnTo>
                  <a:lnTo>
                    <a:pt x="0" y="2288949"/>
                  </a:lnTo>
                  <a:close/>
                </a:path>
              </a:pathLst>
            </a:custGeom>
            <a:solidFill>
              <a:srgbClr val="05040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18980" cy="233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867476" y="1538996"/>
            <a:ext cx="8667695" cy="842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6. Контакти та Ло</a:t>
            </a:r>
            <a:r>
              <a:rPr lang="en-US" sz="28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кація: Як нас знайти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Опис: Інформаційний хаб для швидкої комунікації та координації гостей.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Інформаційні блоки:</a:t>
            </a:r>
          </a:p>
          <a:p>
            <a:pPr algn="l" marL="1209045" indent="-403015" lvl="2">
              <a:lnSpc>
                <a:spcPts val="3920"/>
              </a:lnSpc>
              <a:spcBef>
                <a:spcPct val="0"/>
              </a:spcBef>
              <a:buFont typeface="Arial"/>
              <a:buChar char="⚬"/>
            </a:pPr>
            <a:r>
              <a:rPr lang="en-US" sz="28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Зв'язок: Актуальні номери телефонів, офіційна e-mail адреса та посилання на соціальні мережі.</a:t>
            </a:r>
          </a:p>
          <a:p>
            <a:pPr algn="l" marL="1209045" indent="-403015" lvl="2">
              <a:lnSpc>
                <a:spcPts val="3920"/>
              </a:lnSpc>
              <a:spcBef>
                <a:spcPct val="0"/>
              </a:spcBef>
              <a:buFont typeface="Arial"/>
              <a:buChar char="⚬"/>
            </a:pPr>
            <a:r>
              <a:rPr lang="en-US" sz="28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Локація: Точна фізична адреса готелю з інтегрованою Google-картою для зручного побудови маршруту.</a:t>
            </a:r>
          </a:p>
          <a:p>
            <a:pPr algn="l" marL="1209045" indent="-403015" lvl="2">
              <a:lnSpc>
                <a:spcPts val="3920"/>
              </a:lnSpc>
              <a:spcBef>
                <a:spcPct val="0"/>
              </a:spcBef>
              <a:buFont typeface="Arial"/>
              <a:buChar char="⚬"/>
            </a:pPr>
            <a:r>
              <a:rPr lang="en-US" sz="28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Графік: Чіткий розклад роботи ресепшн та зон загального користування.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Можливості: Користувач миттєво отримує відповіді на питання "як доїхати?" та "як зв'язатися?", що мінімізує бар'єри перед візитом.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0396" y="0"/>
            <a:ext cx="22608791" cy="10287000"/>
          </a:xfrm>
          <a:custGeom>
            <a:avLst/>
            <a:gdLst/>
            <a:ahLst/>
            <a:cxnLst/>
            <a:rect r="r" b="b" t="t" l="l"/>
            <a:pathLst>
              <a:path h="10287000" w="22608791">
                <a:moveTo>
                  <a:pt x="0" y="0"/>
                </a:moveTo>
                <a:lnTo>
                  <a:pt x="22608792" y="0"/>
                </a:lnTo>
                <a:lnTo>
                  <a:pt x="226087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53911" y="1456044"/>
            <a:ext cx="6526754" cy="8690854"/>
            <a:chOff x="0" y="0"/>
            <a:chExt cx="1718980" cy="2288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8980" cy="2288949"/>
            </a:xfrm>
            <a:custGeom>
              <a:avLst/>
              <a:gdLst/>
              <a:ahLst/>
              <a:cxnLst/>
              <a:rect r="r" b="b" t="t" l="l"/>
              <a:pathLst>
                <a:path h="2288949" w="1718980">
                  <a:moveTo>
                    <a:pt x="0" y="0"/>
                  </a:moveTo>
                  <a:lnTo>
                    <a:pt x="1718980" y="0"/>
                  </a:lnTo>
                  <a:lnTo>
                    <a:pt x="1718980" y="2288949"/>
                  </a:lnTo>
                  <a:lnTo>
                    <a:pt x="0" y="2288949"/>
                  </a:lnTo>
                  <a:close/>
                </a:path>
              </a:pathLst>
            </a:custGeom>
            <a:solidFill>
              <a:srgbClr val="05040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18980" cy="233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9151" y="1417944"/>
            <a:ext cx="7278804" cy="886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8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7. Зворотний зв'язок: </a:t>
            </a:r>
            <a:r>
              <a:rPr lang="en-US" sz="2634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Твій досвід має значення</a:t>
            </a:r>
          </a:p>
          <a:p>
            <a:pPr algn="l" marL="568802" indent="-284401" lvl="1">
              <a:lnSpc>
                <a:spcPts val="3688"/>
              </a:lnSpc>
              <a:spcBef>
                <a:spcPct val="0"/>
              </a:spcBef>
              <a:buFont typeface="Arial"/>
              <a:buChar char="•"/>
            </a:pPr>
            <a:r>
              <a:rPr lang="en-US" sz="2634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Опис: Цифрова форма для збору відгуків та оцінки якості сервісу.</a:t>
            </a:r>
          </a:p>
          <a:p>
            <a:pPr algn="l" marL="568802" indent="-284401" lvl="1">
              <a:lnSpc>
                <a:spcPts val="3688"/>
              </a:lnSpc>
              <a:spcBef>
                <a:spcPct val="0"/>
              </a:spcBef>
              <a:buFont typeface="Arial"/>
              <a:buChar char="•"/>
            </a:pPr>
            <a:r>
              <a:rPr lang="en-US" sz="2634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Критерії оцінювання (4 стовпи сервісу):</a:t>
            </a:r>
          </a:p>
          <a:p>
            <a:pPr algn="l" marL="1137604" indent="-379201" lvl="2">
              <a:lnSpc>
                <a:spcPts val="3688"/>
              </a:lnSpc>
              <a:spcBef>
                <a:spcPct val="0"/>
              </a:spcBef>
              <a:buAutoNum type="alphaLcPeriod" startAt="1"/>
            </a:pPr>
            <a:r>
              <a:rPr lang="en-US" sz="2634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Загальне враження: Емоційний відгук від перебування.</a:t>
            </a:r>
          </a:p>
          <a:p>
            <a:pPr algn="l" marL="1137604" indent="-379201" lvl="2">
              <a:lnSpc>
                <a:spcPts val="3688"/>
              </a:lnSpc>
              <a:spcBef>
                <a:spcPct val="0"/>
              </a:spcBef>
              <a:buAutoNum type="alphaLcPeriod" startAt="1"/>
            </a:pPr>
            <a:r>
              <a:rPr lang="en-US" sz="2634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Чистота: Оцінка гігієни та стану капсул/загальних зон.</a:t>
            </a:r>
          </a:p>
          <a:p>
            <a:pPr algn="l" marL="1137604" indent="-379201" lvl="2">
              <a:lnSpc>
                <a:spcPts val="3688"/>
              </a:lnSpc>
              <a:spcBef>
                <a:spcPct val="0"/>
              </a:spcBef>
              <a:buAutoNum type="alphaLcPeriod" startAt="1"/>
            </a:pPr>
            <a:r>
              <a:rPr lang="en-US" sz="2634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Персонал: Рівень професіоналізму та привітності команди.</a:t>
            </a:r>
          </a:p>
          <a:p>
            <a:pPr algn="l" marL="1137604" indent="-379201" lvl="2">
              <a:lnSpc>
                <a:spcPts val="3688"/>
              </a:lnSpc>
              <a:spcBef>
                <a:spcPct val="0"/>
              </a:spcBef>
              <a:buAutoNum type="alphaLcPeriod" startAt="1"/>
            </a:pPr>
            <a:r>
              <a:rPr lang="en-US" sz="2634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Ціна/Якість: Об'єктивність вартості щодо отриманого комфорту.</a:t>
            </a:r>
          </a:p>
          <a:p>
            <a:pPr algn="l" marL="568802" indent="-284401" lvl="1">
              <a:lnSpc>
                <a:spcPts val="3688"/>
              </a:lnSpc>
              <a:spcBef>
                <a:spcPct val="0"/>
              </a:spcBef>
              <a:buFont typeface="Arial"/>
              <a:buChar char="•"/>
            </a:pPr>
            <a:r>
              <a:rPr lang="en-US" sz="2634">
                <a:solidFill>
                  <a:srgbClr val="FFFFFF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Можливості: Клієнт може залишити розгорнутий текстовий відгук, що допомагає готелю ставати кращим, а майбутнім гостям — зробити впевнений вибір.</a:t>
            </a:r>
          </a:p>
          <a:p>
            <a:pPr algn="l">
              <a:lnSpc>
                <a:spcPts val="36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97327" y="1028700"/>
            <a:ext cx="6274669" cy="8366225"/>
          </a:xfrm>
          <a:custGeom>
            <a:avLst/>
            <a:gdLst/>
            <a:ahLst/>
            <a:cxnLst/>
            <a:rect r="r" b="b" t="t" l="l"/>
            <a:pathLst>
              <a:path h="8366225" w="6274669">
                <a:moveTo>
                  <a:pt x="0" y="0"/>
                </a:moveTo>
                <a:lnTo>
                  <a:pt x="6274668" y="0"/>
                </a:lnTo>
                <a:lnTo>
                  <a:pt x="6274668" y="8366225"/>
                </a:lnTo>
                <a:lnTo>
                  <a:pt x="0" y="8366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14096" y="1028700"/>
            <a:ext cx="4725535" cy="8214360"/>
          </a:xfrm>
          <a:custGeom>
            <a:avLst/>
            <a:gdLst/>
            <a:ahLst/>
            <a:cxnLst/>
            <a:rect r="r" b="b" t="t" l="l"/>
            <a:pathLst>
              <a:path h="8214360" w="4725535">
                <a:moveTo>
                  <a:pt x="0" y="0"/>
                </a:moveTo>
                <a:lnTo>
                  <a:pt x="4725535" y="0"/>
                </a:lnTo>
                <a:lnTo>
                  <a:pt x="4725535" y="8214360"/>
                </a:lnTo>
                <a:lnTo>
                  <a:pt x="0" y="8214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34661" y="398780"/>
            <a:ext cx="7142202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Ключові розділи адмін-панелі: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8138160"/>
          </a:xfrm>
          <a:custGeom>
            <a:avLst/>
            <a:gdLst/>
            <a:ahLst/>
            <a:cxnLst/>
            <a:rect r="r" b="b" t="t" l="l"/>
            <a:pathLst>
              <a:path h="8138160" w="18288000">
                <a:moveTo>
                  <a:pt x="0" y="0"/>
                </a:moveTo>
                <a:lnTo>
                  <a:pt x="18288000" y="0"/>
                </a:lnTo>
                <a:lnTo>
                  <a:pt x="18288000" y="8138160"/>
                </a:lnTo>
                <a:lnTo>
                  <a:pt x="0" y="813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149590"/>
            <a:ext cx="17402770" cy="196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1. Дашборд (Ц</a:t>
            </a:r>
            <a:r>
              <a:rPr lang="en-US" sz="2799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ентр аналітики)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Функціонал: Головний екран зі зведеною статистикою в реальному часі.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Метрики: Моніторинг загальної кількості відгуків, активних користувачів та отриманих відповідей.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KPI: Візуалізація середньої оцінки готелю для швидкого аналізу рівня задоволеності клієнтів.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37058" cy="8183880"/>
          </a:xfrm>
          <a:custGeom>
            <a:avLst/>
            <a:gdLst/>
            <a:ahLst/>
            <a:cxnLst/>
            <a:rect r="r" b="b" t="t" l="l"/>
            <a:pathLst>
              <a:path h="8183880" w="18237058">
                <a:moveTo>
                  <a:pt x="0" y="0"/>
                </a:moveTo>
                <a:lnTo>
                  <a:pt x="18237058" y="0"/>
                </a:lnTo>
                <a:lnTo>
                  <a:pt x="18237058" y="8183880"/>
                </a:lnTo>
                <a:lnTo>
                  <a:pt x="0" y="8183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136255"/>
            <a:ext cx="18288000" cy="188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2. К</a:t>
            </a:r>
            <a:r>
              <a:rPr lang="en-US" sz="2699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ерування відгуками (Репутаційний менеджмент)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Функціонал: Повний цикл роботи із зворотним зв'язком.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Можливості: Перегляд детальної інформації по кожному відгуку, редагування контенту та, найголовніше — можливість надати офіційну відповідь від імені готелю, що підвищує лояльність гостей.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8183880"/>
          </a:xfrm>
          <a:custGeom>
            <a:avLst/>
            <a:gdLst/>
            <a:ahLst/>
            <a:cxnLst/>
            <a:rect r="r" b="b" t="t" l="l"/>
            <a:pathLst>
              <a:path h="8183880" w="18288000">
                <a:moveTo>
                  <a:pt x="0" y="0"/>
                </a:moveTo>
                <a:lnTo>
                  <a:pt x="18288000" y="0"/>
                </a:lnTo>
                <a:lnTo>
                  <a:pt x="18288000" y="8183880"/>
                </a:lnTo>
                <a:lnTo>
                  <a:pt x="0" y="8183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149590"/>
            <a:ext cx="18288000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3. Управління </a:t>
            </a:r>
            <a:r>
              <a:rPr lang="en-US" sz="29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користувачами (CRM-модуль)</a:t>
            </a:r>
          </a:p>
          <a:p>
            <a:pPr algn="l" marL="626112" indent="-313056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Функціонал: Адміністрування бази даних клієнтів та персоналу.</a:t>
            </a:r>
          </a:p>
          <a:p>
            <a:pPr algn="l" marL="626112" indent="-313056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Можливості: Перегляд детальних профілів, додавання нових облікових записів, редагування існуючих даних або видалення користувачів у разі потреби.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8183880"/>
          </a:xfrm>
          <a:custGeom>
            <a:avLst/>
            <a:gdLst/>
            <a:ahLst/>
            <a:cxnLst/>
            <a:rect r="r" b="b" t="t" l="l"/>
            <a:pathLst>
              <a:path h="8183880" w="18288000">
                <a:moveTo>
                  <a:pt x="0" y="0"/>
                </a:moveTo>
                <a:lnTo>
                  <a:pt x="18288000" y="0"/>
                </a:lnTo>
                <a:lnTo>
                  <a:pt x="18288000" y="8183880"/>
                </a:lnTo>
                <a:lnTo>
                  <a:pt x="0" y="8183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126730"/>
            <a:ext cx="18288000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4. К</a:t>
            </a:r>
            <a:r>
              <a:rPr lang="en-US" sz="29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ерування ціновою політикою</a:t>
            </a:r>
          </a:p>
          <a:p>
            <a:pPr algn="l" marL="626112" indent="-313056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Функціонал: Гнучке налаштування вартості проживання.</a:t>
            </a:r>
          </a:p>
          <a:p>
            <a:pPr algn="l" marL="626112" indent="-313056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ex Gyre Adventor"/>
                <a:ea typeface="Tex Gyre Adventor"/>
                <a:cs typeface="Tex Gyre Adventor"/>
                <a:sym typeface="Tex Gyre Adventor"/>
              </a:rPr>
              <a:t>Можливості: Моніторинг актуальних цін на капсули та можливість миттєво змінювати їх залежно від сезону, попиту чи маркетингових акцій.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662545" y="1896049"/>
            <a:ext cx="14962909" cy="8229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177558" y="442595"/>
            <a:ext cx="5932884" cy="120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Над  проектом працювали: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Команда “SMAK”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05581" y="962025"/>
            <a:ext cx="3276838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Козачук Анна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556888"/>
            <a:ext cx="18288000" cy="426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Р</a:t>
            </a: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еалізовані задачі: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Management: Комунікація із замовником, планування спринтів та розподіл задач у команді.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Design: Участь у проєктуванні UI/UX інтерфейсу сайту.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Development: Реалізація CRUD-операцій та логіки взаємодії з даними.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QA &amp; DevOps: Написання Unit-тестів для стабільності коду та хостинг проєкту.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14827" y="962025"/>
            <a:ext cx="4858345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Маркевич Климентій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556888"/>
            <a:ext cx="18288000" cy="426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Р</a:t>
            </a: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еалізовані задачі: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D</a:t>
            </a: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atabase: Проєктування, створення та технічне налаштування архітектури бази даних.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Development: Реалізація CRUD-операцій для модулів «Відгуки» та «Користувачі».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Optimization: Пошук та усунення технічних помилок (bug fixing) для стабільної роботи системи.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56671" y="962025"/>
            <a:ext cx="2974658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Стахів Марія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556888"/>
            <a:ext cx="18288000" cy="549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Р</a:t>
            </a: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еалізовані задачі: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MVP: Створення мінімально життєздатного продукту для тестування основних бізнес-гіпотез.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UI/UX</a:t>
            </a: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: Реалізація користувацького інтерфейсу та адаптація візуальних елементів.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Int</a:t>
            </a: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egration: Налаштування функціоналу та оперативне усунення багів після оновлень бекенду.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Documentation: Підготовка та ведення технічної документації проєкту.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583726" y="4198560"/>
            <a:ext cx="5059740" cy="5059740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0738072" y="4198560"/>
            <a:ext cx="5059740" cy="5059740"/>
          </a:xfrm>
          <a:custGeom>
            <a:avLst/>
            <a:gdLst/>
            <a:ahLst/>
            <a:cxnLst/>
            <a:rect r="r" b="b" t="t" l="l"/>
            <a:pathLst>
              <a:path h="5059740" w="5059740">
                <a:moveTo>
                  <a:pt x="0" y="0"/>
                </a:moveTo>
                <a:lnTo>
                  <a:pt x="5059739" y="0"/>
                </a:lnTo>
                <a:lnTo>
                  <a:pt x="5059739" y="5059740"/>
                </a:lnTo>
                <a:lnTo>
                  <a:pt x="0" y="5059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23531" y="857250"/>
            <a:ext cx="10440938" cy="158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5"/>
              </a:lnSpc>
              <a:spcBef>
                <a:spcPct val="0"/>
              </a:spcBef>
            </a:pPr>
            <a:r>
              <a:rPr lang="en-US" b="true" sz="9018">
                <a:solidFill>
                  <a:srgbClr val="FFFFFF"/>
                </a:solidFill>
                <a:latin typeface="Tex Gyre Adventor Bold"/>
                <a:ea typeface="Tex Gyre Adventor Bold"/>
                <a:cs typeface="Tex Gyre Adventor Bold"/>
                <a:sym typeface="Tex Gyre Adventor Bold"/>
              </a:rPr>
              <a:t>Дякуємо за увагу!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DAHI6WlyV1Y</dc:identifier>
  <dcterms:modified xsi:type="dcterms:W3CDTF">2011-08-01T06:04:30Z</dcterms:modified>
  <cp:revision>1</cp:revision>
  <dc:title>Текст абзацу</dc:title>
</cp:coreProperties>
</file>